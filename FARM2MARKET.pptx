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3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3BB0D5"/>
    <a:srgbClr val="445C65"/>
    <a:srgbClr val="FFFFFF"/>
    <a:srgbClr val="839298"/>
    <a:srgbClr val="954DF5"/>
    <a:srgbClr val="FF0000"/>
    <a:srgbClr val="9BBB59"/>
    <a:srgbClr val="727272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thaluru Namratha" userId="d3987dde7fa81852" providerId="LiveId" clId="{05175AC3-D00A-446A-B64D-BF6CD4880672}"/>
    <pc:docChg chg="modSld">
      <pc:chgData name="kothaluru Namratha" userId="d3987dde7fa81852" providerId="LiveId" clId="{05175AC3-D00A-446A-B64D-BF6CD4880672}" dt="2025-08-16T19:32:59.207" v="1" actId="20577"/>
      <pc:docMkLst>
        <pc:docMk/>
      </pc:docMkLst>
      <pc:sldChg chg="modSp mod">
        <pc:chgData name="kothaluru Namratha" userId="d3987dde7fa81852" providerId="LiveId" clId="{05175AC3-D00A-446A-B64D-BF6CD4880672}" dt="2025-08-16T19:32:59.207" v="1" actId="20577"/>
        <pc:sldMkLst>
          <pc:docMk/>
          <pc:sldMk cId="0" sldId="290"/>
        </pc:sldMkLst>
        <pc:spChg chg="mod">
          <ac:chgData name="kothaluru Namratha" userId="d3987dde7fa81852" providerId="LiveId" clId="{05175AC3-D00A-446A-B64D-BF6CD4880672}" dt="2025-08-16T19:32:59.207" v="1" actId="20577"/>
          <ac:spMkLst>
            <pc:docMk/>
            <pc:sldMk cId="0" sldId="290"/>
            <ac:spMk id="37" creationId="{EDD9A0E6-9BA9-55AC-E1B6-E178796708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18BC-373C-6FD0-7E6F-2A0EF3F7C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FAC6C-418F-8EE9-6547-195472399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FFB3-4623-B047-65E7-2D4837193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FD8B8-0B77-5F6A-F689-8865ED4EA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433E6-19CB-367F-545C-8417E78F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8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DC7B-FE0F-37E7-A3EA-F208AB598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011B0-1DD6-38BD-A3D0-F7858A025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EBB88-5EFA-5653-A5E5-0FF34E01D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F5E7C-8007-1581-186F-7ACC6410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20472-F1CE-A169-83CF-E07A9C42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01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A884F-AECE-BB5B-1C5A-3C5B86D9F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1C56B-AE5F-8F0F-B64B-D27FFAA85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C3C6F-1DCE-F633-812C-83ADA93E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0D954-9BD9-A345-2878-DC4F6BAD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8C202-CAC3-FC52-C3B0-FA6FB9ED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4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AF02-6BD3-AE75-4FD6-BE8005FC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46501-EE36-7D3F-BF34-0E6901543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C4FDF-E266-685F-D386-E1B9F11B6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8DD09-AC32-704F-C83C-A05B370F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81F74-46A1-D28A-E179-D050959A7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1A5E4-C221-0C63-F2AA-5326F62C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9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27B1-4357-999B-A35C-128DC1CC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AC5FC-8C43-9743-9C85-135B99B6F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3F3EE-D7CD-BC6C-6AF6-7046C6E78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5819F-C01E-7EFA-AB86-1637BB3DB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BF0081-E763-5282-8E79-F19940433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85242-0EE3-6ABA-548D-CD39688A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30DC0-88A3-F471-ABC4-853B4E4D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C23E48-6DA3-38D2-6316-0047C429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9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5321-E7BD-8028-4CB3-3725ECDA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F60C5-C1A4-B5D9-C96B-F03745E7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65E53-E93C-E545-AF36-F5AD066D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A2053-8D12-1232-5144-381EB11A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3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E96B7-2DAB-FE4C-EE53-3C502857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47FF8-062E-E799-55E9-2FA6959E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FA62C-9573-AF07-D865-83337587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20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B740-11E1-342E-26A6-AD0FBBD8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2C399-18F9-EEF7-F756-1F2FB8C90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B6DAA-C550-BA96-1715-9B0A92B39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B4C65-2EFC-BF8D-83C2-C55C03220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078BA-A2FD-1FFE-0BAE-CD9D7D3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00908-04ED-B2D1-59A7-C823FC78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10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E6D2-E006-FD07-13BF-378D97B54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1394FB-268E-FE07-EB64-2CD109682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C7261-D74B-FEF8-0BBE-379CD40B8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8B7E4-763D-35BC-2815-B9660373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6F738-A814-C9E6-4205-369AD81A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6B349-6AED-662F-1108-97B99D8A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30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3F7D-BA54-E458-71E8-A22741D1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DC925-9748-ECA7-8DF9-48BF74D91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506F4-A982-4C39-FB96-A4471B26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F4E36-6DC7-CBAB-799D-8AFCE9AE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C7F43-3881-FA84-54FD-D7D4B4DF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0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4391F-016C-5446-23FD-7D2AA0E98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0BA2B-0247-0B1B-4434-48BB16AEC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1E4E8-8689-9315-618E-D1CE5424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4896A-D068-D236-BB5A-AFC4FCAF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D55D4-5055-DECF-A189-A733142B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6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06DA1-AC82-43D7-BCB2-E01593E51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483B2-B8BA-F480-1731-E79CD1031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EF81A-73BF-8744-701A-BCFF1E22D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A9602-A9A9-453F-AEF1-37B5837E02CD}" type="datetime1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396F0-EE40-E57E-7AD0-30B20714A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BA2C-B7DA-4E60-DC70-E938CB0F6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34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1225931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481466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2399" y="1032444"/>
            <a:ext cx="5924550" cy="579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–SIH1637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Mobile App for Direct Market Access For Farmers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Theme-Empowering Farmers through Direct Digital Market Access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: HACK TITANS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3026" y="134125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5BB9A0-72AA-FA69-162F-6C390341B9EE}"/>
              </a:ext>
            </a:extLst>
          </p:cNvPr>
          <p:cNvSpPr/>
          <p:nvPr/>
        </p:nvSpPr>
        <p:spPr>
          <a:xfrm>
            <a:off x="11100619" y="811247"/>
            <a:ext cx="760095" cy="2211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DCFCB9-C122-1C5E-2949-B48C0D5C46D2}"/>
              </a:ext>
            </a:extLst>
          </p:cNvPr>
          <p:cNvSpPr txBox="1"/>
          <p:nvPr/>
        </p:nvSpPr>
        <p:spPr>
          <a:xfrm>
            <a:off x="11057679" y="748048"/>
            <a:ext cx="803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445C65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840598" y="-135878"/>
            <a:ext cx="10972800" cy="1143000"/>
          </a:xfrm>
        </p:spPr>
        <p:txBody>
          <a:bodyPr>
            <a:normAutofit/>
          </a:bodyPr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514" y="69853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Hack Titans</a:t>
            </a:r>
            <a:endParaRPr lang="en-IN" dirty="0"/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4608" y="167833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1E4C0A-ED00-7301-E181-A6044081D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070" y="1206753"/>
            <a:ext cx="5220929" cy="31160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79FCB0-F74D-CB4D-AC71-FCB11A739DC5}"/>
              </a:ext>
            </a:extLst>
          </p:cNvPr>
          <p:cNvSpPr txBox="1"/>
          <p:nvPr/>
        </p:nvSpPr>
        <p:spPr>
          <a:xfrm>
            <a:off x="221036" y="1206753"/>
            <a:ext cx="82572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 &amp; Company registration: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registration for framers to list crops and companies to specify requirements.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Crops listing &amp; contract management: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Farmers can use list crops , and companies can browse and create contracts for long- terms deals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real-time crop prices and price alerts for farmers to have easy access.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payments gateway , yearly sales review , and profit growth analytics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secure payment transaction.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With Buyers: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middlemen to interact (direct connection with farmers to buyers.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 Gate: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Farmers to Consumers.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0C9DF0-922A-E233-6249-83F877ED4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9773" y="4236865"/>
            <a:ext cx="2690093" cy="198137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DBF18C9-8AB1-AD6B-5AE4-5793A2981B2E}"/>
              </a:ext>
            </a:extLst>
          </p:cNvPr>
          <p:cNvSpPr/>
          <p:nvPr/>
        </p:nvSpPr>
        <p:spPr>
          <a:xfrm>
            <a:off x="10963774" y="877187"/>
            <a:ext cx="678426" cy="2664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C26ED8-3A07-FBE0-3A6D-E89B2ADF07D6}"/>
              </a:ext>
            </a:extLst>
          </p:cNvPr>
          <p:cNvSpPr txBox="1"/>
          <p:nvPr/>
        </p:nvSpPr>
        <p:spPr>
          <a:xfrm>
            <a:off x="10895095" y="802965"/>
            <a:ext cx="917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445C65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94400" y="-111346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0625" y="100505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7731" y="19198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Hack Titans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48FCA-EEEC-2FF5-84E2-210E723E4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487" y="1224376"/>
            <a:ext cx="4112512" cy="37845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E8D81D1-6F5E-EE62-F65A-799A5BBA3A65}"/>
              </a:ext>
            </a:extLst>
          </p:cNvPr>
          <p:cNvSpPr txBox="1"/>
          <p:nvPr/>
        </p:nvSpPr>
        <p:spPr>
          <a:xfrm>
            <a:off x="1076960" y="45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D9A0E6-9BA9-55AC-E1B6-E178796708C8}"/>
              </a:ext>
            </a:extLst>
          </p:cNvPr>
          <p:cNvSpPr txBox="1"/>
          <p:nvPr/>
        </p:nvSpPr>
        <p:spPr>
          <a:xfrm>
            <a:off x="57731" y="826532"/>
            <a:ext cx="826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Technical Approach 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Frontend:</a:t>
            </a:r>
            <a:r>
              <a:rPr lang="en-IN" dirty="0"/>
              <a:t> Flutter / React Native for cross-platform mobile app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Backend:</a:t>
            </a:r>
            <a:r>
              <a:rPr lang="en-IN" dirty="0"/>
              <a:t> Node.js / Python (Django/Flask) with REST APIs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Database:</a:t>
            </a:r>
            <a:r>
              <a:rPr lang="en-IN" dirty="0"/>
              <a:t> MySQL / PostgreSQL (structured data), MongoDB (unstructured data)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Cloud &amp; Hosting:</a:t>
            </a:r>
            <a:r>
              <a:rPr lang="en-IN" dirty="0"/>
              <a:t> AWS / Google Cloud with Firebase for storage &amp; notifications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Integrations:</a:t>
            </a:r>
            <a:r>
              <a:rPr lang="en-IN" dirty="0"/>
              <a:t> UPI/Digital Payments, Google Maps API, Push Notifications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Security:</a:t>
            </a:r>
            <a:r>
              <a:rPr lang="en-IN" dirty="0"/>
              <a:t> SSL encryption, JWT authentication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Methodology:</a:t>
            </a:r>
            <a:r>
              <a:rPr lang="en-IN" dirty="0"/>
              <a:t> Agile development – Requirement → Design → Development → Testing → Deployment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Geolocation: </a:t>
            </a:r>
            <a:r>
              <a:rPr lang="en-IN" dirty="0"/>
              <a:t>Google Maps API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Payment Integration: </a:t>
            </a:r>
            <a:r>
              <a:rPr lang="en-US" dirty="0"/>
              <a:t>UPI, Paytm, Google Pay</a:t>
            </a:r>
            <a:r>
              <a:rPr lang="en-US"/>
              <a:t>, Razor pay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617A23-E385-78AC-72CF-912DA61EA295}"/>
              </a:ext>
            </a:extLst>
          </p:cNvPr>
          <p:cNvSpPr/>
          <p:nvPr/>
        </p:nvSpPr>
        <p:spPr>
          <a:xfrm>
            <a:off x="11057679" y="748048"/>
            <a:ext cx="803035" cy="2450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23CAF-6255-D9A7-71A4-4BF373B234F3}"/>
              </a:ext>
            </a:extLst>
          </p:cNvPr>
          <p:cNvSpPr txBox="1"/>
          <p:nvPr/>
        </p:nvSpPr>
        <p:spPr>
          <a:xfrm>
            <a:off x="10952282" y="714716"/>
            <a:ext cx="803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445C65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69587" y="-231637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9847" y="-121169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4731" y="49514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Hack Titans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535BED-8EB7-8A7D-21FD-5BEFFE390C31}"/>
              </a:ext>
            </a:extLst>
          </p:cNvPr>
          <p:cNvSpPr/>
          <p:nvPr/>
        </p:nvSpPr>
        <p:spPr>
          <a:xfrm>
            <a:off x="176980" y="3977931"/>
            <a:ext cx="4119716" cy="2241755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37A44C-FB5C-2C5F-AFFB-A919D4E82C81}"/>
              </a:ext>
            </a:extLst>
          </p:cNvPr>
          <p:cNvSpPr/>
          <p:nvPr/>
        </p:nvSpPr>
        <p:spPr>
          <a:xfrm>
            <a:off x="6807482" y="1095375"/>
            <a:ext cx="4119716" cy="2241755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3E39FB-8FF0-AE8B-37F8-9A778882F442}"/>
              </a:ext>
            </a:extLst>
          </p:cNvPr>
          <p:cNvSpPr/>
          <p:nvPr/>
        </p:nvSpPr>
        <p:spPr>
          <a:xfrm>
            <a:off x="6897328" y="3976485"/>
            <a:ext cx="4119716" cy="2241755"/>
          </a:xfrm>
          <a:prstGeom prst="roundRect">
            <a:avLst/>
          </a:prstGeom>
          <a:solidFill>
            <a:srgbClr val="954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C6EF8D02-BF13-15B5-C752-0F71551CB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FD5745-DD71-2177-892B-DC0E4FC5EE0A}"/>
              </a:ext>
            </a:extLst>
          </p:cNvPr>
          <p:cNvSpPr/>
          <p:nvPr/>
        </p:nvSpPr>
        <p:spPr>
          <a:xfrm>
            <a:off x="329773" y="1095375"/>
            <a:ext cx="4119716" cy="2241755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F967D4-5FDC-11B7-66FA-02B8A929511A}"/>
              </a:ext>
            </a:extLst>
          </p:cNvPr>
          <p:cNvSpPr txBox="1"/>
          <p:nvPr/>
        </p:nvSpPr>
        <p:spPr>
          <a:xfrm>
            <a:off x="486137" y="1051674"/>
            <a:ext cx="381055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developed using mobile app frameworks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maintenance costs are reasonable compared to traditional setups</a:t>
            </a:r>
          </a:p>
          <a:p>
            <a:endParaRPr lang="en-IN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5CB606-3351-70DC-6A60-80B427EA6C1A}"/>
              </a:ext>
            </a:extLst>
          </p:cNvPr>
          <p:cNvSpPr txBox="1"/>
          <p:nvPr/>
        </p:nvSpPr>
        <p:spPr>
          <a:xfrm>
            <a:off x="6942251" y="1230451"/>
            <a:ext cx="402987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interface with multilingual support makes it suitable for farmers.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Feasibility: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benefit from transparency ,fair pricing , and reduced middlemen exploration.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B8888-67C1-6255-81F6-02FA3ABE3B2A}"/>
              </a:ext>
            </a:extLst>
          </p:cNvPr>
          <p:cNvSpPr txBox="1"/>
          <p:nvPr/>
        </p:nvSpPr>
        <p:spPr>
          <a:xfrm>
            <a:off x="329773" y="4109884"/>
            <a:ext cx="3750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FC606-9709-2E9D-1038-CAB252CB22A6}"/>
              </a:ext>
            </a:extLst>
          </p:cNvPr>
          <p:cNvSpPr txBox="1"/>
          <p:nvPr/>
        </p:nvSpPr>
        <p:spPr>
          <a:xfrm>
            <a:off x="304800" y="4129548"/>
            <a:ext cx="377558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Viability: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earn higher profits by eliminating  middlemen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Viability: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adoption potential among farmers and buyers due to mutual benefits.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682896-0898-4271-0C0B-B8853F071715}"/>
              </a:ext>
            </a:extLst>
          </p:cNvPr>
          <p:cNvSpPr txBox="1"/>
          <p:nvPr/>
        </p:nvSpPr>
        <p:spPr>
          <a:xfrm>
            <a:off x="6942251" y="4109884"/>
            <a:ext cx="398494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Viability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Empowers farmers , promotes fair trade and builds consumer trust.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Viability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revenue through small commissions ,ads or government subsidies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5D6AA6-2BFC-A5D2-2258-3FBE2E145988}"/>
              </a:ext>
            </a:extLst>
          </p:cNvPr>
          <p:cNvSpPr/>
          <p:nvPr/>
        </p:nvSpPr>
        <p:spPr>
          <a:xfrm>
            <a:off x="10955592" y="542063"/>
            <a:ext cx="767595" cy="24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47A23F-35BC-B9D0-F1AF-51694B504CD9}"/>
              </a:ext>
            </a:extLst>
          </p:cNvPr>
          <p:cNvSpPr txBox="1"/>
          <p:nvPr/>
        </p:nvSpPr>
        <p:spPr>
          <a:xfrm>
            <a:off x="10915934" y="528769"/>
            <a:ext cx="910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445C65"/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09684" y="-251097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2316" y="9690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3832" y="96906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Hack Titans</a:t>
            </a:r>
            <a:endParaRPr lang="en-IN" dirty="0"/>
          </a:p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57CC9F-5744-6EFA-EB75-A19540E92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982269"/>
              </p:ext>
            </p:extLst>
          </p:nvPr>
        </p:nvGraphicFramePr>
        <p:xfrm>
          <a:off x="1535998" y="883920"/>
          <a:ext cx="8044882" cy="5455920"/>
        </p:xfrm>
        <a:graphic>
          <a:graphicData uri="http://schemas.openxmlformats.org/drawingml/2006/table">
            <a:tbl>
              <a:tblPr firstRow="1" lastRow="1" lastCol="1" bandRow="1">
                <a:tableStyleId>{ED083AE6-46FA-4A59-8FB0-9F97EB10719F}</a:tableStyleId>
              </a:tblPr>
              <a:tblGrid>
                <a:gridCol w="4028387">
                  <a:extLst>
                    <a:ext uri="{9D8B030D-6E8A-4147-A177-3AD203B41FA5}">
                      <a16:colId xmlns:a16="http://schemas.microsoft.com/office/drawing/2014/main" val="2030022510"/>
                    </a:ext>
                  </a:extLst>
                </a:gridCol>
                <a:gridCol w="4016495">
                  <a:extLst>
                    <a:ext uri="{9D8B030D-6E8A-4147-A177-3AD203B41FA5}">
                      <a16:colId xmlns:a16="http://schemas.microsoft.com/office/drawing/2014/main" val="3515576288"/>
                    </a:ext>
                  </a:extLst>
                </a:gridCol>
              </a:tblGrid>
              <a:tr h="533432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ea typeface="ＭＳ Ｐゴシック" pitchFamily="1" charset="-128"/>
                          <a:cs typeface="Times New Roman" panose="02020603050405020304" pitchFamily="18" charset="0"/>
                        </a:rPr>
                        <a:t>IMPACT</a:t>
                      </a:r>
                    </a:p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ea typeface="ＭＳ Ｐゴシック" pitchFamily="1" charset="-128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Elimination of Middlemen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Farmers can sell produce directly to consumers, retailers, or wholesalers, increasing their profit margins.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Transparency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Real-time updates on market prices empower farmers to negotiate better deals.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Wider Reach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Farmers gain access to buyers beyond their local markets, including urban consumers and institutional buyers.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 Trade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Reduces exploitation by intermediaries and ensures farmers receive a fair share of the consumer price.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Inclusion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Encourages adoption of digital technologies in rural areas, promoting financial literacy and inclusion.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US" sz="1400" b="1" dirty="0">
                        <a:latin typeface="Times New Roman" panose="02020603050405020304" pitchFamily="18" charset="0"/>
                        <a:ea typeface="ＭＳ Ｐゴシック" pitchFamily="1" charset="-128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ea typeface="ＭＳ Ｐゴシック" pitchFamily="1" charset="-128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ea typeface="ＭＳ Ｐゴシック" pitchFamily="1" charset="-128"/>
                          <a:cs typeface="Times New Roman" panose="02020603050405020304" pitchFamily="18" charset="0"/>
                        </a:rPr>
                        <a:t>BENEFITS</a:t>
                      </a:r>
                    </a:p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ea typeface="ＭＳ Ｐゴシック" pitchFamily="1" charset="-128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Income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Farmers get better returns by directly connecting with buyers.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Transaction Costs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Saves transportation costs and commissions paid to middlemen.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Intelligence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Apps provide demand trends, seasonal variations, and buyer preferences to guide crop planning.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Convenience &amp; Efficiency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Easy listing of produce, online payments, and logistics support simplify the selling process.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Quality Assurance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Apps often include grading/quality checks that help farmers market premium produce.</a:t>
                      </a:r>
                    </a:p>
                    <a:p>
                      <a:pPr algn="l"/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7882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F7410E4-C720-7223-1853-79EAE3FC3C24}"/>
              </a:ext>
            </a:extLst>
          </p:cNvPr>
          <p:cNvSpPr/>
          <p:nvPr/>
        </p:nvSpPr>
        <p:spPr>
          <a:xfrm>
            <a:off x="10805604" y="747252"/>
            <a:ext cx="983274" cy="327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E3BD4-F67D-B65D-4DE8-F122012DA046}"/>
              </a:ext>
            </a:extLst>
          </p:cNvPr>
          <p:cNvSpPr txBox="1"/>
          <p:nvPr/>
        </p:nvSpPr>
        <p:spPr>
          <a:xfrm>
            <a:off x="10907040" y="726193"/>
            <a:ext cx="983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445C65"/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90251" y="-6869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Hack Titans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4E6984-4F78-8B8F-A525-5C1F022F7146}"/>
              </a:ext>
            </a:extLst>
          </p:cNvPr>
          <p:cNvSpPr/>
          <p:nvPr/>
        </p:nvSpPr>
        <p:spPr>
          <a:xfrm>
            <a:off x="11002297" y="786581"/>
            <a:ext cx="859930" cy="34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23EFE-998E-78DF-F203-906F68E88E7F}"/>
              </a:ext>
            </a:extLst>
          </p:cNvPr>
          <p:cNvSpPr txBox="1"/>
          <p:nvPr/>
        </p:nvSpPr>
        <p:spPr>
          <a:xfrm>
            <a:off x="11096427" y="720575"/>
            <a:ext cx="859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445C65"/>
                </a:solidFill>
              </a:rPr>
              <a:t>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180072-CB47-8AE5-CE2C-731A047FC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041930"/>
              </p:ext>
            </p:extLst>
          </p:nvPr>
        </p:nvGraphicFramePr>
        <p:xfrm>
          <a:off x="329773" y="1230451"/>
          <a:ext cx="11532453" cy="346347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3844151">
                  <a:extLst>
                    <a:ext uri="{9D8B030D-6E8A-4147-A177-3AD203B41FA5}">
                      <a16:colId xmlns:a16="http://schemas.microsoft.com/office/drawing/2014/main" val="3121090571"/>
                    </a:ext>
                  </a:extLst>
                </a:gridCol>
                <a:gridCol w="3844151">
                  <a:extLst>
                    <a:ext uri="{9D8B030D-6E8A-4147-A177-3AD203B41FA5}">
                      <a16:colId xmlns:a16="http://schemas.microsoft.com/office/drawing/2014/main" val="3011334507"/>
                    </a:ext>
                  </a:extLst>
                </a:gridCol>
                <a:gridCol w="3844151">
                  <a:extLst>
                    <a:ext uri="{9D8B030D-6E8A-4147-A177-3AD203B41FA5}">
                      <a16:colId xmlns:a16="http://schemas.microsoft.com/office/drawing/2014/main" val="2483059331"/>
                    </a:ext>
                  </a:extLst>
                </a:gridCol>
              </a:tblGrid>
              <a:tr h="1071157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Agriculture Technology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 </a:t>
                      </a:r>
                    </a:p>
                    <a:p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  <a:p>
                      <a:endParaRPr lang="en-IN" sz="1800" dirty="0">
                        <a:solidFill>
                          <a:srgbClr val="3BB0D5"/>
                        </a:solidFill>
                      </a:endParaRPr>
                    </a:p>
                    <a:p>
                      <a:r>
                        <a:rPr lang="en-IN" sz="1800" b="1" u="sng" dirty="0">
                          <a:solidFill>
                            <a:srgbClr val="3BB0D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https://ijcrt.org/papers/IJCRT2412239.pdf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70771"/>
                  </a:ext>
                </a:extLst>
              </a:tr>
              <a:tr h="1086034">
                <a:tc>
                  <a:txBody>
                    <a:bodyPr/>
                    <a:lstStyle/>
                    <a:p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E-Commerce / Online Marketplace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b="1" u="sng" dirty="0">
                        <a:solidFill>
                          <a:srgbClr val="39B0D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u="sng" dirty="0">
                          <a:solidFill>
                            <a:srgbClr val="39B0D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https://www.irjmets.com/upload_newfiles/irjmets70500180613/paper_file/irjmets70500180613.pdf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2736"/>
                  </a:ext>
                </a:extLst>
              </a:tr>
              <a:tr h="1086034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 chain &amp; Logistics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/>
                    </a:p>
                    <a:p>
                      <a:r>
                        <a:rPr lang="en-IN" sz="1800" b="1" u="sng" dirty="0">
                          <a:solidFill>
                            <a:srgbClr val="39B0D4"/>
                          </a:solidFill>
                        </a:rPr>
                        <a:t>https://www.sujalbhavsar.in/project/market-mitra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38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2A0A35-E6A2-F22A-9C0C-03EC83FAB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643377"/>
              </p:ext>
            </p:extLst>
          </p:nvPr>
        </p:nvGraphicFramePr>
        <p:xfrm>
          <a:off x="329773" y="1257958"/>
          <a:ext cx="11532453" cy="511848"/>
        </p:xfrm>
        <a:graphic>
          <a:graphicData uri="http://schemas.openxmlformats.org/drawingml/2006/table">
            <a:tbl>
              <a:tblPr/>
              <a:tblGrid>
                <a:gridCol w="11532453">
                  <a:extLst>
                    <a:ext uri="{9D8B030D-6E8A-4147-A177-3AD203B41FA5}">
                      <a16:colId xmlns:a16="http://schemas.microsoft.com/office/drawing/2014/main" val="1674288306"/>
                    </a:ext>
                  </a:extLst>
                </a:gridCol>
              </a:tblGrid>
              <a:tr h="511848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                                             Details                                                 Sources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183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7678</TotalTime>
  <Words>661</Words>
  <Application>Microsoft Office PowerPoint</Application>
  <PresentationFormat>Widescreen</PresentationFormat>
  <Paragraphs>145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Calibri Light</vt:lpstr>
      <vt:lpstr>Courier New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kothaluru Namratha</cp:lastModifiedBy>
  <cp:revision>149</cp:revision>
  <dcterms:created xsi:type="dcterms:W3CDTF">2013-12-12T18:46:50Z</dcterms:created>
  <dcterms:modified xsi:type="dcterms:W3CDTF">2025-08-17T02:03:58Z</dcterms:modified>
  <cp:category/>
</cp:coreProperties>
</file>